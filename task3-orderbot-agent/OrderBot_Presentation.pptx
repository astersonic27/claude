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right. Every grey box is a person doing a manual step; the red numbers mark where errors and delays creep in. The 'No' branch is the worst: the order just waits for an email reply. Timings are estimates, so confirm real volumes and handling times with Operations before quoting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 steps as the previous slide, so the audience can compare. OrderBot is an AI agent: it is given a goal (process each order from email to confirmation in under 5 minutes at 99.5% accuracy) and uses tools to read email and PDFs, query Salesforce and the Google Sheet, and send emails. When something is missing or unclear it does not guess; it asks the sales rep exactly what is needed and flags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targets from the project brief, not measured results; the pilot exists to prove them. Read-only means OrderBot cannot send emails or edit Salesforce or the inventory sheet, so there is no risk to live orders. The 4-week length is a proposal to agree with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order process is a bottleneck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every hardware order is handled by hand</a:t>
            </a:r>
            <a:endParaRPr lang="en-US" sz="1400" dirty="0"/>
          </a:p>
        </p:txBody>
      </p:sp>
      <p:sp>
        <p:nvSpPr>
          <p:cNvPr id="4" name="Step 1"/>
          <p:cNvSpPr txBox="1"/>
          <p:nvPr/>
        </p:nvSpPr>
        <p:spPr>
          <a:xfrm>
            <a:off x="45720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with PDF order 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7145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Step 2"/>
          <p:cNvSpPr txBox="1"/>
          <p:nvPr/>
        </p:nvSpPr>
        <p:spPr>
          <a:xfrm>
            <a:off x="214884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read the PDF and re-type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7145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tep 3"/>
          <p:cNvSpPr txBox="1"/>
          <p:nvPr/>
        </p:nvSpPr>
        <p:spPr>
          <a:xfrm>
            <a:off x="384048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customer in Salesforce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7145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tep 4"/>
          <p:cNvSpPr txBox="1"/>
          <p:nvPr/>
        </p:nvSpPr>
        <p:spPr>
          <a:xfrm>
            <a:off x="553212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 in Google Sheet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7145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Decision"/>
          <p:cNvSpPr txBox="1"/>
          <p:nvPr/>
        </p:nvSpPr>
        <p:spPr>
          <a:xfrm>
            <a:off x="7223760" y="1188720"/>
            <a:ext cx="1417320" cy="1051560"/>
          </a:xfrm>
          <a:prstGeom prst="diamond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OK?</a:t>
            </a:r>
            <a:endParaRPr lang="en-US" sz="1200" dirty="0"/>
          </a:p>
        </p:txBody>
      </p:sp>
      <p:sp>
        <p:nvSpPr>
          <p:cNvPr id="13" name="Badge 1"/>
          <p:cNvSpPr txBox="1"/>
          <p:nvPr/>
        </p:nvSpPr>
        <p:spPr>
          <a:xfrm>
            <a:off x="3429000" y="11887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Badge 2"/>
          <p:cNvSpPr txBox="1"/>
          <p:nvPr/>
        </p:nvSpPr>
        <p:spPr>
          <a:xfrm>
            <a:off x="5120640" y="11887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Badge 2"/>
          <p:cNvSpPr txBox="1"/>
          <p:nvPr/>
        </p:nvSpPr>
        <p:spPr>
          <a:xfrm>
            <a:off x="6812280" y="11887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6583680" y="2240280"/>
            <a:ext cx="1348740" cy="5029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32420" y="2240280"/>
            <a:ext cx="160020" cy="5029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Yes label"/>
          <p:cNvSpPr txBox="1"/>
          <p:nvPr/>
        </p:nvSpPr>
        <p:spPr>
          <a:xfrm>
            <a:off x="598932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No label"/>
          <p:cNvSpPr txBox="1"/>
          <p:nvPr/>
        </p:nvSpPr>
        <p:spPr>
          <a:xfrm>
            <a:off x="827532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Yes branch"/>
          <p:cNvSpPr txBox="1"/>
          <p:nvPr/>
        </p:nvSpPr>
        <p:spPr>
          <a:xfrm>
            <a:off x="580644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emails by hand: customer and warehouse</a:t>
            </a:r>
            <a:endParaRPr lang="en-US" sz="1100" dirty="0"/>
          </a:p>
        </p:txBody>
      </p:sp>
      <p:sp>
        <p:nvSpPr>
          <p:cNvPr id="21" name="No branch"/>
          <p:cNvSpPr txBox="1"/>
          <p:nvPr/>
        </p:nvSpPr>
        <p:spPr>
          <a:xfrm>
            <a:off x="7498080" y="274320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sales rep, then wait</a:t>
            </a:r>
            <a:endParaRPr lang="en-US" sz="1100" dirty="0"/>
          </a:p>
        </p:txBody>
      </p:sp>
      <p:sp>
        <p:nvSpPr>
          <p:cNvPr id="22" name="Badge 3"/>
          <p:cNvSpPr txBox="1"/>
          <p:nvPr/>
        </p:nvSpPr>
        <p:spPr>
          <a:xfrm>
            <a:off x="8549640" y="260604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Pain badge 1"/>
          <p:cNvSpPr txBox="1"/>
          <p:nvPr/>
        </p:nvSpPr>
        <p:spPr>
          <a:xfrm>
            <a:off x="457200" y="278892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Pain point 1"/>
          <p:cNvSpPr txBox="1"/>
          <p:nvPr/>
        </p:nvSpPr>
        <p:spPr>
          <a:xfrm>
            <a:off x="86868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re-typing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copied from PDF by hand, so typos and wrong items slip in</a:t>
            </a:r>
            <a:endParaRPr lang="en-US" sz="1200" dirty="0"/>
          </a:p>
        </p:txBody>
      </p:sp>
      <p:sp>
        <p:nvSpPr>
          <p:cNvPr id="25" name="Pain badge 2"/>
          <p:cNvSpPr txBox="1"/>
          <p:nvPr/>
        </p:nvSpPr>
        <p:spPr>
          <a:xfrm>
            <a:off x="457200" y="341071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Pain point 2"/>
          <p:cNvSpPr txBox="1"/>
          <p:nvPr/>
        </p:nvSpPr>
        <p:spPr>
          <a:xfrm>
            <a:off x="868680" y="33649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repeated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checked one after the other for every order</a:t>
            </a:r>
            <a:endParaRPr lang="en-US" sz="1200" dirty="0"/>
          </a:p>
        </p:txBody>
      </p:sp>
      <p:sp>
        <p:nvSpPr>
          <p:cNvPr id="27" name="Pain badge 3"/>
          <p:cNvSpPr txBox="1"/>
          <p:nvPr/>
        </p:nvSpPr>
        <p:spPr>
          <a:xfrm>
            <a:off x="457200" y="4032504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Pain point 3"/>
          <p:cNvSpPr txBox="1"/>
          <p:nvPr/>
        </p:nvSpPr>
        <p:spPr>
          <a:xfrm>
            <a:off x="868680" y="3986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stall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go back by email and the order waits for a reply</a:t>
            </a:r>
            <a:endParaRPr lang="en-US" sz="1200" dirty="0"/>
          </a:p>
        </p:txBody>
      </p:sp>
      <p:sp>
        <p:nvSpPr>
          <p:cNvPr id="29" name="Footnote"/>
          <p:cNvSpPr txBox="1"/>
          <p:nvPr/>
        </p:nvSpPr>
        <p:spPr>
          <a:xfrm>
            <a:off x="45720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orders wait whenever staff are away. Timings are estimates to be confirmed with Operations.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OrderBot, our autonomous AI agent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steps, done automatically in minutes, 24/7</a:t>
            </a:r>
            <a:endParaRPr lang="en-US" sz="1400" dirty="0"/>
          </a:p>
        </p:txBody>
      </p:sp>
      <p:sp>
        <p:nvSpPr>
          <p:cNvPr id="4" name="Step 1"/>
          <p:cNvSpPr txBox="1"/>
          <p:nvPr/>
        </p:nvSpPr>
        <p:spPr>
          <a:xfrm>
            <a:off x="45720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email arrives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71450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tep 2"/>
          <p:cNvSpPr txBox="1"/>
          <p:nvPr/>
        </p:nvSpPr>
        <p:spPr>
          <a:xfrm>
            <a:off x="214884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OrderBot reads the PDF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71450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tep 3"/>
          <p:cNvSpPr txBox="1"/>
          <p:nvPr/>
        </p:nvSpPr>
        <p:spPr>
          <a:xfrm>
            <a:off x="384048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customer in Salesforce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71450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tep 4"/>
          <p:cNvSpPr txBox="1"/>
          <p:nvPr/>
        </p:nvSpPr>
        <p:spPr>
          <a:xfrm>
            <a:off x="5532120" y="1325880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stock in Google Sheet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71450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Decision"/>
          <p:cNvSpPr txBox="1"/>
          <p:nvPr/>
        </p:nvSpPr>
        <p:spPr>
          <a:xfrm>
            <a:off x="7223760" y="1188720"/>
            <a:ext cx="1417320" cy="1051560"/>
          </a:xfrm>
          <a:prstGeom prst="diamond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OK?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6583680" y="2240280"/>
            <a:ext cx="1348740" cy="502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32420" y="2240280"/>
            <a:ext cx="160020" cy="502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Yes label"/>
          <p:cNvSpPr txBox="1"/>
          <p:nvPr/>
        </p:nvSpPr>
        <p:spPr>
          <a:xfrm>
            <a:off x="598932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No label"/>
          <p:cNvSpPr txBox="1"/>
          <p:nvPr/>
        </p:nvSpPr>
        <p:spPr>
          <a:xfrm>
            <a:off x="827532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Yes branch"/>
          <p:cNvSpPr txBox="1"/>
          <p:nvPr/>
        </p:nvSpPr>
        <p:spPr>
          <a:xfrm>
            <a:off x="580644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customer and warehouse, updates stock and Salesforce</a:t>
            </a:r>
            <a:endParaRPr lang="en-US" sz="1100" dirty="0"/>
          </a:p>
        </p:txBody>
      </p:sp>
      <p:sp>
        <p:nvSpPr>
          <p:cNvPr id="18" name="No branch"/>
          <p:cNvSpPr txBox="1"/>
          <p:nvPr/>
        </p:nvSpPr>
        <p:spPr>
          <a:xfrm>
            <a:off x="7498080" y="274320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rep for exactly what is missing, alerts a person</a:t>
            </a:r>
            <a:endParaRPr lang="en-US" sz="1100" dirty="0"/>
          </a:p>
        </p:txBody>
      </p:sp>
      <p:sp>
        <p:nvSpPr>
          <p:cNvPr id="19" name="Check 1"/>
          <p:cNvSpPr txBox="1"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How it works 1"/>
          <p:cNvSpPr txBox="1"/>
          <p:nvPr/>
        </p:nvSpPr>
        <p:spPr>
          <a:xfrm>
            <a:off x="868680" y="2743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email the moment it arrives</a:t>
            </a:r>
            <a:endParaRPr lang="en-US" sz="1400" dirty="0"/>
          </a:p>
        </p:txBody>
      </p:sp>
      <p:sp>
        <p:nvSpPr>
          <p:cNvPr id="21" name="Check 2"/>
          <p:cNvSpPr txBox="1"/>
          <p:nvPr/>
        </p:nvSpPr>
        <p:spPr>
          <a:xfrm>
            <a:off x="457200" y="33375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How it works 2"/>
          <p:cNvSpPr txBox="1"/>
          <p:nvPr/>
        </p:nvSpPr>
        <p:spPr>
          <a:xfrm>
            <a:off x="868680" y="33101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and stock in seconds</a:t>
            </a:r>
            <a:endParaRPr lang="en-US" sz="1400" dirty="0"/>
          </a:p>
        </p:txBody>
      </p:sp>
      <p:sp>
        <p:nvSpPr>
          <p:cNvPr id="23" name="Check 3"/>
          <p:cNvSpPr txBox="1"/>
          <p:nvPr/>
        </p:nvSpPr>
        <p:spPr>
          <a:xfrm>
            <a:off x="457200" y="39044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How it works 3"/>
          <p:cNvSpPr txBox="1"/>
          <p:nvPr/>
        </p:nvSpPr>
        <p:spPr>
          <a:xfrm>
            <a:off x="868680" y="38770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orders alone; hands tricky ones to a person, with the reason</a:t>
            </a:r>
            <a:endParaRPr lang="en-US" sz="1400" dirty="0"/>
          </a:p>
        </p:txBody>
      </p:sp>
      <p:sp>
        <p:nvSpPr>
          <p:cNvPr id="25" name="Footnote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stay in control: staff handle every exception, and every action is logged.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orders, fewer errors, low-risk start</a:t>
            </a:r>
            <a:endParaRPr lang="en-US" sz="3000" dirty="0"/>
          </a:p>
        </p:txBody>
      </p:sp>
      <p:sp>
        <p:nvSpPr>
          <p:cNvPr id="3" name="Tile 1"/>
          <p:cNvSpPr/>
          <p:nvPr/>
        </p:nvSpPr>
        <p:spPr>
          <a:xfrm>
            <a:off x="457200" y="118872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Tile number 1"/>
          <p:cNvSpPr txBox="1"/>
          <p:nvPr/>
        </p:nvSpPr>
        <p:spPr>
          <a:xfrm>
            <a:off x="566928" y="12801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5" name="Tile label 1"/>
          <p:cNvSpPr txBox="1"/>
          <p:nvPr/>
        </p:nvSpPr>
        <p:spPr>
          <a:xfrm>
            <a:off x="566928" y="187452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confirmation (target), down from hours</a:t>
            </a:r>
            <a:endParaRPr lang="en-US" sz="1200" dirty="0"/>
          </a:p>
        </p:txBody>
      </p:sp>
      <p:sp>
        <p:nvSpPr>
          <p:cNvPr id="6" name="Tile 2"/>
          <p:cNvSpPr/>
          <p:nvPr/>
        </p:nvSpPr>
        <p:spPr>
          <a:xfrm>
            <a:off x="2651760" y="118872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ile number 2"/>
          <p:cNvSpPr txBox="1"/>
          <p:nvPr/>
        </p:nvSpPr>
        <p:spPr>
          <a:xfrm>
            <a:off x="2761488" y="12801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000" dirty="0"/>
          </a:p>
        </p:txBody>
      </p:sp>
      <p:sp>
        <p:nvSpPr>
          <p:cNvPr id="8" name="Tile label 2"/>
          <p:cNvSpPr txBox="1"/>
          <p:nvPr/>
        </p:nvSpPr>
        <p:spPr>
          <a:xfrm>
            <a:off x="2761488" y="187452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target, checked before go-live</a:t>
            </a:r>
            <a:endParaRPr lang="en-US" sz="1200" dirty="0"/>
          </a:p>
        </p:txBody>
      </p:sp>
      <p:sp>
        <p:nvSpPr>
          <p:cNvPr id="9" name="Tile 3"/>
          <p:cNvSpPr/>
          <p:nvPr/>
        </p:nvSpPr>
        <p:spPr>
          <a:xfrm>
            <a:off x="457200" y="265176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ile number 3"/>
          <p:cNvSpPr txBox="1"/>
          <p:nvPr/>
        </p:nvSpPr>
        <p:spPr>
          <a:xfrm>
            <a:off x="566928" y="27432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ile label 3"/>
          <p:cNvSpPr txBox="1"/>
          <p:nvPr/>
        </p:nvSpPr>
        <p:spPr>
          <a:xfrm>
            <a:off x="566928" y="3337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 for someone to be at their desk</a:t>
            </a:r>
            <a:endParaRPr lang="en-US" sz="1200" dirty="0"/>
          </a:p>
        </p:txBody>
      </p:sp>
      <p:sp>
        <p:nvSpPr>
          <p:cNvPr id="12" name="Tile 4"/>
          <p:cNvSpPr/>
          <p:nvPr/>
        </p:nvSpPr>
        <p:spPr>
          <a:xfrm>
            <a:off x="2651760" y="265176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ile number 4"/>
          <p:cNvSpPr txBox="1"/>
          <p:nvPr/>
        </p:nvSpPr>
        <p:spPr>
          <a:xfrm>
            <a:off x="2761488" y="27432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time</a:t>
            </a:r>
            <a:endParaRPr lang="en-US" sz="2200" dirty="0"/>
          </a:p>
        </p:txBody>
      </p:sp>
      <p:sp>
        <p:nvSpPr>
          <p:cNvPr id="14" name="Tile label 4"/>
          <p:cNvSpPr txBox="1"/>
          <p:nvPr/>
        </p:nvSpPr>
        <p:spPr>
          <a:xfrm>
            <a:off x="2761488" y="3337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freed for customers and tricky orders</a:t>
            </a:r>
            <a:endParaRPr lang="en-US" sz="1200" dirty="0"/>
          </a:p>
        </p:txBody>
      </p:sp>
      <p:sp>
        <p:nvSpPr>
          <p:cNvPr id="15" name="PoC card"/>
          <p:cNvSpPr/>
          <p:nvPr/>
        </p:nvSpPr>
        <p:spPr>
          <a:xfrm>
            <a:off x="4983480" y="1188720"/>
            <a:ext cx="37033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PoC heading"/>
          <p:cNvSpPr txBox="1"/>
          <p:nvPr/>
        </p:nvSpPr>
        <p:spPr>
          <a:xfrm>
            <a:off x="5166360" y="1280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a read-only Proof of Concept</a:t>
            </a:r>
            <a:endParaRPr lang="en-US" sz="1600" dirty="0"/>
          </a:p>
        </p:txBody>
      </p:sp>
      <p:sp>
        <p:nvSpPr>
          <p:cNvPr id="17" name="Step badge 1"/>
          <p:cNvSpPr txBox="1"/>
          <p:nvPr/>
        </p:nvSpPr>
        <p:spPr>
          <a:xfrm>
            <a:off x="5166360" y="190195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PoC step 1"/>
          <p:cNvSpPr txBox="1"/>
          <p:nvPr/>
        </p:nvSpPr>
        <p:spPr>
          <a:xfrm>
            <a:off x="557784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OrderBot reads real orders but changes nothing</a:t>
            </a:r>
            <a:endParaRPr lang="en-US" sz="1300" dirty="0"/>
          </a:p>
        </p:txBody>
      </p:sp>
      <p:sp>
        <p:nvSpPr>
          <p:cNvPr id="19" name="Step badge 2"/>
          <p:cNvSpPr txBox="1"/>
          <p:nvPr/>
        </p:nvSpPr>
        <p:spPr>
          <a:xfrm>
            <a:off x="5166360" y="258775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PoC step 2"/>
          <p:cNvSpPr txBox="1"/>
          <p:nvPr/>
        </p:nvSpPr>
        <p:spPr>
          <a:xfrm>
            <a:off x="557784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decisions against what staff actually did</a:t>
            </a:r>
            <a:endParaRPr lang="en-US" sz="1300" dirty="0"/>
          </a:p>
        </p:txBody>
      </p:sp>
      <p:sp>
        <p:nvSpPr>
          <p:cNvPr id="21" name="Step badge 3"/>
          <p:cNvSpPr txBox="1"/>
          <p:nvPr/>
        </p:nvSpPr>
        <p:spPr>
          <a:xfrm>
            <a:off x="5166360" y="327355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PoC step 3"/>
          <p:cNvSpPr txBox="1"/>
          <p:nvPr/>
        </p:nvSpPr>
        <p:spPr>
          <a:xfrm>
            <a:off x="557784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or no-go on a phased rollout, based on measured accuracy</a:t>
            </a:r>
            <a:endParaRPr lang="en-US" sz="1300" dirty="0"/>
          </a:p>
        </p:txBody>
      </p:sp>
      <p:sp>
        <p:nvSpPr>
          <p:cNvPr id="23" name="Ask band"/>
          <p:cNvSpPr txBox="1"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approve a 4-week read-only pilot. No risk to live orders.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derBot">
  <a:themeElements>
    <a:clrScheme name="OrderBot">
      <a:dk1>
        <a:srgbClr val="1F2933"/>
      </a:dk1>
      <a:lt1>
        <a:srgbClr val="FFFFFF"/>
      </a:lt1>
      <a:dk2>
        <a:srgbClr val="3E4C59"/>
      </a:dk2>
      <a:lt2>
        <a:srgbClr val="F3F5F7"/>
      </a:lt2>
      <a:accent1>
        <a:srgbClr val="1E8E5A"/>
      </a:accent1>
      <a:accent2>
        <a:srgbClr val="C8372D"/>
      </a:accent2>
      <a:accent3>
        <a:srgbClr val="6B7785"/>
      </a:accent3>
      <a:accent4>
        <a:srgbClr val="F2A900"/>
      </a:accent4>
      <a:accent5>
        <a:srgbClr val="0F766E"/>
      </a:accent5>
      <a:accent6>
        <a:srgbClr val="9AA5B1"/>
      </a:accent6>
      <a:hlink>
        <a:srgbClr val="0F766E"/>
      </a:hlink>
      <a:folHlink>
        <a:srgbClr val="6B7785"/>
      </a:folHlink>
    </a:clrScheme>
    <a:fontScheme name="OrderB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OrderBot: automating hardware order processing</dc:title>
  <dc:subject>PptxGenJS Presentation</dc:subject>
  <dc:creator>Graduate Developer, Datacom</dc:creator>
  <cp:lastModifiedBy>Graduate Developer, Datacom</cp:lastModifiedBy>
  <cp:revision>1</cp:revision>
  <dcterms:created xsi:type="dcterms:W3CDTF">2026-10-26T04:24:07Z</dcterms:created>
  <dcterms:modified xsi:type="dcterms:W3CDTF">2026-10-26T04:24:07Z</dcterms:modified>
</cp:coreProperties>
</file>